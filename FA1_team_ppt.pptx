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62" r:id="rId8"/>
    <p:sldId id="259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A460C-CFF7-B866-2DE0-76A6ECB9FA19}" v="10" dt="2025-11-13T07:34:00.625"/>
    <p1510:client id="{8EC5E0A3-D121-172C-184D-6E51D61C9F7D}" v="407" dt="2025-11-13T07:23:21.382"/>
    <p1510:client id="{F011BEB4-AD87-4BB2-8D91-299DB70D312F}" v="121" dt="2025-11-13T08:50:24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64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71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74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5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8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08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42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1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8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make/RuJe6RymlYTGTnBn6b0tpA/User-Dashboard?fullscreen=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65EA-E650-52A0-C154-29C45847C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213" y="1384401"/>
            <a:ext cx="9989574" cy="3598606"/>
          </a:xfrm>
        </p:spPr>
        <p:txBody>
          <a:bodyPr/>
          <a:lstStyle/>
          <a:p>
            <a:pPr algn="ctr"/>
            <a:r>
              <a:rPr lang="en-SG"/>
              <a:t>C372</a:t>
            </a:r>
            <a:br>
              <a:rPr lang="en-SG"/>
            </a:br>
            <a:r>
              <a:rPr lang="en-SG"/>
              <a:t>Final assessment 1 </a:t>
            </a:r>
            <a:br>
              <a:rPr lang="en-SG"/>
            </a:br>
            <a:r>
              <a:rPr lang="en-SG"/>
              <a:t>team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BB8D0-F209-6D62-9283-351DA08A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0112" y="3965090"/>
            <a:ext cx="6991776" cy="1302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/>
              <a:t>By </a:t>
            </a:r>
            <a:r>
              <a:rPr lang="en-SG" err="1"/>
              <a:t>ostin</a:t>
            </a:r>
            <a:r>
              <a:rPr lang="en-SG"/>
              <a:t> ng, </a:t>
            </a:r>
            <a:r>
              <a:rPr lang="en-SG" err="1"/>
              <a:t>pei</a:t>
            </a:r>
            <a:r>
              <a:rPr lang="en-SG"/>
              <a:t> ling, </a:t>
            </a:r>
            <a:r>
              <a:rPr lang="en-SG" err="1"/>
              <a:t>nicholas</a:t>
            </a:r>
            <a:r>
              <a:rPr lang="en-SG"/>
              <a:t>, </a:t>
            </a:r>
            <a:r>
              <a:rPr lang="en-SG" err="1"/>
              <a:t>aisyah</a:t>
            </a:r>
            <a:r>
              <a:rPr lang="en-SG"/>
              <a:t>, Ong Jun Rong, </a:t>
            </a:r>
            <a:r>
              <a:rPr lang="en-SG" err="1"/>
              <a:t>hazeera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353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C633-AEF9-E50B-7399-B9DA5407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72" y="887591"/>
            <a:ext cx="10691265" cy="137103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Market Gaps Identified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1E2A-44A5-DDC7-852C-845CD296A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72" y="1716895"/>
            <a:ext cx="10378488" cy="4148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Limited Personalization in Fragrance E-commerce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Most perfume websites sell solely based on product names or brands, without helping the customer find scents that match their preferences. For example, "woody," "fresh," or "floral" tones.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Lack of Interactive Reviews &amp; Authenticity Assurance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The presence of fake products and unreliable reviews makes many users wary of buying perfumes online. 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No Real-Time Voucher/Reward Personalization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It usually offers static discounts rather than smart, personalized vouchers, for instance, birthday discounts or loyalty-based offers.</a:t>
            </a:r>
          </a:p>
          <a:p>
            <a:pPr>
              <a:buNone/>
            </a:pPr>
            <a:r>
              <a:rPr lang="en-US" sz="1600" b="1">
                <a:latin typeface="Neue Haas Grotesk Text Pro"/>
                <a:ea typeface="+mn-lt"/>
                <a:cs typeface="+mn-lt"/>
              </a:rPr>
              <a:t>Poor Integration of Wishlist and Gifting </a:t>
            </a:r>
            <a:endParaRPr lang="en-US" b="1">
              <a:latin typeface="Neue Haas Grotesk Text Pro"/>
            </a:endParaRPr>
          </a:p>
          <a:p>
            <a:pPr marL="0" indent="0">
              <a:buNone/>
            </a:pPr>
            <a:r>
              <a:rPr lang="en-US" sz="1600">
                <a:latin typeface="Neue Haas Grotesk Text Pro"/>
                <a:ea typeface="+mn-lt"/>
                <a:cs typeface="+mn-lt"/>
              </a:rPr>
              <a:t>Perfume purchases are often for gifting, but few sites allow </a:t>
            </a:r>
            <a:r>
              <a:rPr lang="en-US" sz="1600" err="1">
                <a:latin typeface="Neue Haas Grotesk Text Pro"/>
                <a:ea typeface="+mn-lt"/>
                <a:cs typeface="+mn-lt"/>
              </a:rPr>
              <a:t>wishlist</a:t>
            </a:r>
            <a:r>
              <a:rPr lang="en-US" sz="1600">
                <a:latin typeface="Neue Haas Grotesk Text Pro"/>
                <a:ea typeface="+mn-lt"/>
                <a:cs typeface="+mn-lt"/>
              </a:rPr>
              <a:t> sharing, </a:t>
            </a:r>
            <a:r>
              <a:rPr lang="en-US" sz="1600" err="1">
                <a:latin typeface="Neue Haas Grotesk Text Pro"/>
                <a:ea typeface="+mn-lt"/>
                <a:cs typeface="+mn-lt"/>
              </a:rPr>
              <a:t>wishlist</a:t>
            </a:r>
            <a:r>
              <a:rPr lang="en-US" sz="1600">
                <a:latin typeface="Neue Haas Grotesk Text Pro"/>
                <a:ea typeface="+mn-lt"/>
                <a:cs typeface="+mn-lt"/>
              </a:rPr>
              <a:t>-to-cart, and notifications for price drops or stock availability.</a:t>
            </a:r>
            <a:endParaRPr lang="en-US">
              <a:latin typeface="Neue Haas Grotesk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76090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36D-CCF2-61A0-15EB-57044F0D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28786"/>
            <a:ext cx="10691265" cy="1371030"/>
          </a:xfrm>
        </p:spPr>
        <p:txBody>
          <a:bodyPr/>
          <a:lstStyle/>
          <a:p>
            <a:r>
              <a:rPr lang="en-US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02FBC-980E-64B7-ED16-97ABD447C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63831"/>
            <a:ext cx="10691265" cy="4065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Neue Haas Grotesk Text Pro"/>
                <a:ea typeface="+mn-lt"/>
                <a:cs typeface="+mn-lt"/>
              </a:rPr>
              <a:t>Fragrance Recommendation System</a:t>
            </a:r>
            <a:endParaRPr lang="en-US" b="1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Suggest perfumes based on past purchases, reviews, and scent profiles.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Use tags such as "fresh", "sweet", "spicy", and "luxury" to customize browsing.</a:t>
            </a:r>
          </a:p>
          <a:p>
            <a:pPr>
              <a:buNone/>
            </a:pPr>
            <a:r>
              <a:rPr lang="en-US" b="1">
                <a:latin typeface="Neue Haas Grotesk Text Pro"/>
                <a:ea typeface="+mn-lt"/>
                <a:cs typeface="+mn-lt"/>
              </a:rPr>
              <a:t>Verified Buyer Review System with Star Ratings &amp; Timestamps</a:t>
            </a:r>
            <a:endParaRPr lang="en-US" b="1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Only allow verified buyers to leave reviews.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  <a:ea typeface="+mn-lt"/>
                <a:cs typeface="+mn-lt"/>
              </a:rPr>
              <a:t>Add filters, by star rating or scent category, for example.</a:t>
            </a:r>
          </a:p>
        </p:txBody>
      </p:sp>
    </p:spTree>
    <p:extLst>
      <p:ext uri="{BB962C8B-B14F-4D97-AF65-F5344CB8AC3E}">
        <p14:creationId xmlns:p14="http://schemas.microsoft.com/office/powerpoint/2010/main" val="8768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273A-2E1D-675A-8FBC-F1052B18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922096"/>
            <a:ext cx="10691265" cy="1371030"/>
          </a:xfrm>
        </p:spPr>
        <p:txBody>
          <a:bodyPr/>
          <a:lstStyle/>
          <a:p>
            <a:r>
              <a:rPr lang="en-US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C902B-41C5-06FB-E163-12829338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752538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Neue Haas Grotesk Text Pro"/>
              </a:rPr>
              <a:t>Smart Voucher &amp; Loyalty Management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</a:rPr>
              <a:t>Auto-generate vouchers according to user activities or purchase frequencies.</a:t>
            </a:r>
          </a:p>
          <a:p>
            <a:r>
              <a:rPr lang="en-US">
                <a:latin typeface="Neue Haas Grotesk Text Pro"/>
              </a:rPr>
              <a:t>Notify users before voucher expiration.</a:t>
            </a:r>
          </a:p>
          <a:p>
            <a:pPr>
              <a:buNone/>
            </a:pPr>
            <a:r>
              <a:rPr lang="en-US" b="1">
                <a:latin typeface="Neue Haas Grotesk Text Pro"/>
              </a:rPr>
              <a:t>Interactive Wishlist &amp; Gifting Feature</a:t>
            </a:r>
            <a:endParaRPr lang="en-US">
              <a:latin typeface="Neue Haas Grotesk Text Pro"/>
            </a:endParaRPr>
          </a:p>
          <a:p>
            <a:r>
              <a:rPr lang="en-US">
                <a:latin typeface="Neue Haas Grotesk Text Pro"/>
              </a:rPr>
              <a:t>Allow users to share </a:t>
            </a:r>
            <a:r>
              <a:rPr lang="en-US" err="1">
                <a:latin typeface="Neue Haas Grotesk Text Pro"/>
              </a:rPr>
              <a:t>wishlists</a:t>
            </a:r>
            <a:r>
              <a:rPr lang="en-US">
                <a:latin typeface="Neue Haas Grotesk Text Pro"/>
              </a:rPr>
              <a:t> via social media or email.</a:t>
            </a:r>
          </a:p>
          <a:p>
            <a:r>
              <a:rPr lang="en-US">
                <a:latin typeface="Neue Haas Grotesk Text Pro"/>
              </a:rPr>
              <a:t>Enable moving items from the </a:t>
            </a:r>
            <a:r>
              <a:rPr lang="en-US" err="1">
                <a:latin typeface="Neue Haas Grotesk Text Pro"/>
              </a:rPr>
              <a:t>wishlist</a:t>
            </a:r>
            <a:r>
              <a:rPr lang="en-US">
                <a:latin typeface="Neue Haas Grotesk Text Pro"/>
              </a:rPr>
              <a:t> → cart directly.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6C64-1578-E0AB-0A7F-6DB3E110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1D1A-FF0B-405B-9549-3FD6A807DD26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6A535-4970-06FA-2A44-BA1A11CA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30DA3-DB4C-1CAB-5788-5249195B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44EA-1A94-3525-F213-B35957C7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835832"/>
            <a:ext cx="10691265" cy="739721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regulatory and Compliance Requirements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404B-120C-10F6-11AE-311A52F1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32" y="1506541"/>
            <a:ext cx="10680533" cy="46124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PDPA (Personal Data Protection Act – Singapore)</a:t>
            </a:r>
            <a:endParaRPr lang="en-US" sz="1700" b="1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Securely store user personal data (name, address, email, payment info).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Obtain consent before collecting or using personal data.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Allow users to delete or edit their information.</a:t>
            </a:r>
            <a:endParaRPr lang="en-US" sz="1700">
              <a:latin typeface="Neue Haas Grotesk Text Pro"/>
            </a:endParaRPr>
          </a:p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GDPR (Internationally)</a:t>
            </a:r>
            <a:endParaRPr lang="en-US" sz="1700" b="1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Similar to PDPA but applies to EU customers.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Users must be informed of how their data is used.</a:t>
            </a:r>
          </a:p>
          <a:p>
            <a:pPr>
              <a:buNone/>
            </a:pPr>
            <a:r>
              <a:rPr lang="en-US" sz="1700" b="1">
                <a:latin typeface="Neue Haas Grotesk Text Pro"/>
                <a:ea typeface="+mn-lt"/>
                <a:cs typeface="+mn-lt"/>
              </a:rPr>
              <a:t>PCI DSS (Payment Card Industry Data Security Standard)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Required if processing or storing credit card information.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Implement secure encryption (SSL/TLS) for all payment transactions.</a:t>
            </a:r>
            <a:endParaRPr lang="en-US" sz="1700">
              <a:latin typeface="Neue Haas Grotesk Text Pro"/>
            </a:endParaRPr>
          </a:p>
          <a:p>
            <a:r>
              <a:rPr lang="en-US" sz="1700">
                <a:latin typeface="Neue Haas Grotesk Text Pro"/>
                <a:ea typeface="+mn-lt"/>
                <a:cs typeface="+mn-lt"/>
              </a:rPr>
              <a:t>Use tokenization or a secure third-party payment gateway (e.g., Stripe, PayPal).</a:t>
            </a:r>
            <a:endParaRPr lang="en-US" sz="1700">
              <a:latin typeface="Neue Haas Grotesk Text Pro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97837-985A-7F22-1EB0-0147167C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BE2E-30AD-41A8-9AE2-FAF30625B0E4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3CA03-0175-BD09-AB5D-49C22430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B9ED6-E76A-7568-F0A2-9BD74456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6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030B-A589-0FB4-9599-68844C6C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077" y="847334"/>
            <a:ext cx="10691265" cy="1371030"/>
          </a:xfrm>
        </p:spPr>
        <p:txBody>
          <a:bodyPr>
            <a:normAutofit/>
          </a:bodyPr>
          <a:lstStyle/>
          <a:p>
            <a:r>
              <a:rPr lang="en-US" sz="3600"/>
              <a:t>regulatory and Compliance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4601-A59D-7D40-C81B-A07C9DDA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1676338"/>
            <a:ext cx="10680380" cy="41041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AML/KYC (Anti-Money Laundering / Know Your Customer)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Recommended if offering high-value gift vouchers or wallet credit features.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Verify users for large transactions to prevent fraud.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MAS (Monetary Authority of Singapore) Guidelines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If the platform manages stored value (e.g., prepaid vouchers), ensure compliance with Payment Services Act (PSA).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Vouchers with stored value must have expiry and refund policies clearly disclosed.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r>
              <a:rPr lang="en-US" sz="1900" b="1">
                <a:latin typeface="Neue Haas Grotesk Text Pro"/>
                <a:ea typeface="+mn-lt"/>
                <a:cs typeface="+mn-lt"/>
              </a:rPr>
              <a:t>Consumer Protection (Fair Trading) Act (CPFTA)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Display clear return/refund policies.</a:t>
            </a:r>
            <a:endParaRPr lang="en-US" sz="1900">
              <a:latin typeface="Neue Haas Grotesk Text Pro"/>
            </a:endParaRPr>
          </a:p>
          <a:p>
            <a:r>
              <a:rPr lang="en-US" sz="1900">
                <a:latin typeface="Neue Haas Grotesk Text Pro"/>
                <a:ea typeface="+mn-lt"/>
                <a:cs typeface="+mn-lt"/>
              </a:rPr>
              <a:t>Ensure truthful product descriptions (especially for branded perfumes).</a:t>
            </a:r>
            <a:endParaRPr lang="en-US" sz="1900">
              <a:latin typeface="Neue Haas Grotesk Text Pro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77BF7-D626-F251-0465-4E7C0886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6B17B-E16A-41AD-BC1A-AB8504011EE3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BF4C-31E7-254C-4401-BB1B13A4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F46AF-E530-0EBB-68DD-515A77E0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B928-FE92-7B7F-B6CA-C3297B15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08" y="922096"/>
            <a:ext cx="10691265" cy="619157"/>
          </a:xfrm>
        </p:spPr>
        <p:txBody>
          <a:bodyPr>
            <a:normAutofit/>
          </a:bodyPr>
          <a:lstStyle/>
          <a:p>
            <a:r>
              <a:rPr lang="en-US" sz="3200"/>
              <a:t>regulatory and Compliance Requirements 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8744691-2FA3-8294-475F-F3747ACC4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183673"/>
              </p:ext>
            </p:extLst>
          </p:nvPr>
        </p:nvGraphicFramePr>
        <p:xfrm>
          <a:off x="834708" y="1598399"/>
          <a:ext cx="10691811" cy="43375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63937">
                  <a:extLst>
                    <a:ext uri="{9D8B030D-6E8A-4147-A177-3AD203B41FA5}">
                      <a16:colId xmlns:a16="http://schemas.microsoft.com/office/drawing/2014/main" val="2578623445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2926956187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1169474062"/>
                    </a:ext>
                  </a:extLst>
                </a:gridCol>
              </a:tblGrid>
              <a:tr h="49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Regulation /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18580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Privacy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PDPA / GDPR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Consent, transparency, data deletion rights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59981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Payment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PCI DSS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card data, encrypted payment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88826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Fraud Prevention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AML / KYC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verification for large-value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26399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Financial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 Guidelines, PSA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Voucher expiry, stored value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66397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Consumer Rights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CPFTA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Honest marketing, refund/return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825477"/>
                  </a:ext>
                </a:extLst>
              </a:tr>
              <a:tr h="569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Cybersecurity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OWASP, SSL/TLS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website, protect admin/user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13570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1D096-A7D4-5E6E-F1DE-9DB7C1DA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691A-E77C-42A3-8781-F2A0DF589D27}" type="datetime1">
              <a:rPr lang="en-US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4246-581D-ECC8-8C78-2CE6996F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2DBD-D090-E771-7733-2AC7A042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1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BD2E-245B-F484-32D1-7DB46EBA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 link: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732DD-B4EC-270C-AEC1-67986D62A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520" y="1716184"/>
            <a:ext cx="10680380" cy="42130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  <a:hlinkClick r:id="rId2"/>
              </a:rPr>
              <a:t>Figma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5DD5B-292C-E415-E56D-6ED8C439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7AD8-57F8-43F8-AA18-FACBEB5E83E3}" type="datetime1">
              <a:rPr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8FE3C-81AE-32A8-C1AF-BE96B220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6089-26DB-824E-A90E-237A7631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028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7A9EB896FF1F408308E1A836947372" ma:contentTypeVersion="3" ma:contentTypeDescription="Create a new document." ma:contentTypeScope="" ma:versionID="27d0e30ee18c585ea66797b6b4e25d76">
  <xsd:schema xmlns:xsd="http://www.w3.org/2001/XMLSchema" xmlns:xs="http://www.w3.org/2001/XMLSchema" xmlns:p="http://schemas.microsoft.com/office/2006/metadata/properties" xmlns:ns2="3cfb2628-3951-4e58-a965-fc646fc36a3b" targetNamespace="http://schemas.microsoft.com/office/2006/metadata/properties" ma:root="true" ma:fieldsID="73d7e72da58e79c4a76f5324e67fba50" ns2:_="">
    <xsd:import namespace="3cfb2628-3951-4e58-a965-fc646fc36a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b2628-3951-4e58-a965-fc646fc36a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577246-8452-417B-A878-E2BE6C1B4C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95D788-9EFD-4143-A64B-C5DC53174980}">
  <ds:schemaRefs>
    <ds:schemaRef ds:uri="http://schemas.microsoft.com/office/infopath/2007/PartnerControls"/>
    <ds:schemaRef ds:uri="http://www.w3.org/XML/1998/namespace"/>
    <ds:schemaRef ds:uri="http://purl.org/dc/terms/"/>
    <ds:schemaRef ds:uri="3cfb2628-3951-4e58-a965-fc646fc36a3b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70AEC75-2771-4B35-8DE6-7283299F68C1}">
  <ds:schemaRefs>
    <ds:schemaRef ds:uri="3cfb2628-3951-4e58-a965-fc646fc36a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688b0d0-79f0-40a4-8644-35fcdee9d0f3}" enabled="0" method="" siteId="{f688b0d0-79f0-40a4-8644-35fcdee9d0f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Calisto MT</vt:lpstr>
      <vt:lpstr>Neue Haas Grotesk Text Pro</vt:lpstr>
      <vt:lpstr>Univers Condensed</vt:lpstr>
      <vt:lpstr>ChronicleVTI</vt:lpstr>
      <vt:lpstr>C372 Final assessment 1  team presentation</vt:lpstr>
      <vt:lpstr>Market Gaps Identified</vt:lpstr>
      <vt:lpstr>Proposed solutions</vt:lpstr>
      <vt:lpstr>Proposed solutions</vt:lpstr>
      <vt:lpstr>regulatory and Compliance Requirements</vt:lpstr>
      <vt:lpstr>regulatory and Compliance Requirements</vt:lpstr>
      <vt:lpstr>regulatory and Compliance Requirements summary</vt:lpstr>
      <vt:lpstr>Prototype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OSTIN NG JIN KAI</dc:creator>
  <cp:lastModifiedBy>NUR HAZEERA MYSARA BINTE OTHMAN</cp:lastModifiedBy>
  <cp:revision>2</cp:revision>
  <dcterms:created xsi:type="dcterms:W3CDTF">2025-11-13T03:02:43Z</dcterms:created>
  <dcterms:modified xsi:type="dcterms:W3CDTF">2025-11-13T14:44:58Z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0x0101006B7A9EB896FF1F408308E1A836947372</vt:lpwstr>
  </property>
</Properties>
</file>